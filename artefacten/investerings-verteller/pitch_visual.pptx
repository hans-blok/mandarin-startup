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7" r:id="rId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D6C0"/>
    <a:srgbClr val="1FDFBA"/>
    <a:srgbClr val="F98B2B"/>
    <a:srgbClr val="37C9A6"/>
    <a:srgbClr val="4ACEAF"/>
    <a:srgbClr val="465F76"/>
    <a:srgbClr val="F7F8FA"/>
    <a:srgbClr val="2C3E50"/>
    <a:srgbClr val="C94F3D"/>
    <a:srgbClr val="2FAE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2" d="100"/>
          <a:sy n="142" d="100"/>
        </p:scale>
        <p:origin x="3204" y="3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8F3AE71-C858-B9AD-6355-8005A13BAD55}"/>
              </a:ext>
            </a:extLst>
          </p:cNvPr>
          <p:cNvSpPr/>
          <p:nvPr/>
        </p:nvSpPr>
        <p:spPr>
          <a:xfrm>
            <a:off x="93467" y="141195"/>
            <a:ext cx="12001891" cy="6481482"/>
          </a:xfrm>
          <a:prstGeom prst="ellipse">
            <a:avLst/>
          </a:prstGeom>
          <a:solidFill>
            <a:srgbClr val="1ABC9C">
              <a:alpha val="72000"/>
            </a:srgbClr>
          </a:solidFill>
          <a:ln w="2540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C48FFB5-BB7B-292D-EE87-040F4AEE19CC}"/>
              </a:ext>
            </a:extLst>
          </p:cNvPr>
          <p:cNvSpPr/>
          <p:nvPr/>
        </p:nvSpPr>
        <p:spPr>
          <a:xfrm>
            <a:off x="93467" y="1304826"/>
            <a:ext cx="9165288" cy="4267300"/>
          </a:xfrm>
          <a:prstGeom prst="ellipse">
            <a:avLst/>
          </a:prstGeom>
          <a:solidFill>
            <a:srgbClr val="2C3E50"/>
          </a:solidFill>
          <a:ln w="2540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E672E56-5213-A5E3-4D69-FDC910CB21C2}"/>
              </a:ext>
            </a:extLst>
          </p:cNvPr>
          <p:cNvSpPr/>
          <p:nvPr/>
        </p:nvSpPr>
        <p:spPr>
          <a:xfrm>
            <a:off x="107596" y="2151525"/>
            <a:ext cx="6596393" cy="2830050"/>
          </a:xfrm>
          <a:prstGeom prst="ellipse">
            <a:avLst/>
          </a:prstGeom>
          <a:solidFill>
            <a:srgbClr val="E55039">
              <a:alpha val="80000"/>
            </a:srgbClr>
          </a:solidFill>
          <a:ln w="25400">
            <a:noFill/>
          </a:ln>
          <a:effectLst>
            <a:outerShdw blurRad="38100" dist="25400" dir="2700000" algn="tl" rotWithShape="0">
              <a:schemeClr val="bg1">
                <a:alpha val="32000"/>
              </a:scheme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19556D3-9BD9-B218-93EC-D44A0C553744}"/>
              </a:ext>
            </a:extLst>
          </p:cNvPr>
          <p:cNvSpPr/>
          <p:nvPr/>
        </p:nvSpPr>
        <p:spPr>
          <a:xfrm>
            <a:off x="107596" y="2817717"/>
            <a:ext cx="5551227" cy="1371343"/>
          </a:xfrm>
          <a:prstGeom prst="ellipse">
            <a:avLst/>
          </a:prstGeom>
          <a:solidFill>
            <a:srgbClr val="FFFFFF"/>
          </a:solidFill>
          <a:ln w="25400">
            <a:noFill/>
          </a:ln>
          <a:effectLst>
            <a:outerShdw blurRad="127000" dist="88900" dir="2700000" algn="tl" rotWithShape="0">
              <a:schemeClr val="tx1">
                <a:alpha val="49000"/>
              </a:scheme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defRPr sz="1800" b="1">
                <a:solidFill>
                  <a:srgbClr val="34495E"/>
                </a:solidFill>
              </a:defRPr>
            </a:pPr>
            <a:r>
              <a:rPr lang="nl-NL" sz="2400" noProof="0" dirty="0"/>
              <a:t>In 2030 wordt de meeste software gebouwd met Agentic AI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B8379-F572-27FE-90AD-6A55DFE5881B}"/>
              </a:ext>
            </a:extLst>
          </p:cNvPr>
          <p:cNvSpPr txBox="1"/>
          <p:nvPr/>
        </p:nvSpPr>
        <p:spPr>
          <a:xfrm>
            <a:off x="1829175" y="4517754"/>
            <a:ext cx="219543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nl-NL" sz="1050" noProof="0" dirty="0"/>
              <a:t>Accountability ?</a:t>
            </a:r>
            <a:br>
              <a:rPr lang="nl-NL" sz="1050" noProof="0" dirty="0"/>
            </a:br>
            <a:endParaRPr lang="nl-NL" sz="1050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DFBE72-F0BD-E4DC-4DA4-639CFDBF5AE9}"/>
              </a:ext>
            </a:extLst>
          </p:cNvPr>
          <p:cNvSpPr txBox="1"/>
          <p:nvPr/>
        </p:nvSpPr>
        <p:spPr>
          <a:xfrm>
            <a:off x="3656146" y="2552698"/>
            <a:ext cx="219543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nl-NL" sz="1050" noProof="0" dirty="0"/>
              <a:t>Kwaliteit &amp; Compliance?</a:t>
            </a:r>
            <a:br>
              <a:rPr lang="nl-NL" sz="1050" noProof="0" dirty="0"/>
            </a:br>
            <a:endParaRPr lang="nl-NL" sz="1050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998BBA-DECC-69EE-BF7D-F7065E5AF12E}"/>
              </a:ext>
            </a:extLst>
          </p:cNvPr>
          <p:cNvSpPr txBox="1"/>
          <p:nvPr/>
        </p:nvSpPr>
        <p:spPr>
          <a:xfrm>
            <a:off x="672641" y="4299099"/>
            <a:ext cx="192408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nl-NL" sz="1050" noProof="0" dirty="0"/>
              <a:t>OPEX-explosie?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0EB4EE-180C-0418-F47A-1DDD535B41A5}"/>
              </a:ext>
            </a:extLst>
          </p:cNvPr>
          <p:cNvSpPr txBox="1"/>
          <p:nvPr/>
        </p:nvSpPr>
        <p:spPr>
          <a:xfrm>
            <a:off x="3508069" y="4306611"/>
            <a:ext cx="17939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nl-NL" sz="1050" dirty="0"/>
              <a:t>Welke waarde levert mijn AI ontwikkelteam?</a:t>
            </a:r>
            <a:endParaRPr lang="nl-NL" sz="1050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6083E9-0B61-8D63-D028-8A378AB63D98}"/>
              </a:ext>
            </a:extLst>
          </p:cNvPr>
          <p:cNvSpPr txBox="1"/>
          <p:nvPr/>
        </p:nvSpPr>
        <p:spPr>
          <a:xfrm>
            <a:off x="992017" y="2522477"/>
            <a:ext cx="243301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700">
                <a:solidFill>
                  <a:schemeClr val="bg1"/>
                </a:solidFill>
              </a:defRPr>
            </a:lvl1pPr>
          </a:lstStyle>
          <a:p>
            <a:pPr algn="ctr"/>
            <a:r>
              <a:rPr lang="nl-NL" sz="1050" noProof="0" dirty="0"/>
              <a:t>Privacy-compliance </a:t>
            </a:r>
            <a:r>
              <a:rPr lang="nl-NL" sz="1050" dirty="0"/>
              <a:t>&amp;</a:t>
            </a:r>
            <a:r>
              <a:rPr lang="nl-NL" sz="1050" noProof="0" dirty="0"/>
              <a:t> RAG = haalbaar?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FEA409-3BE7-723B-4961-85288CB97F5F}"/>
              </a:ext>
            </a:extLst>
          </p:cNvPr>
          <p:cNvSpPr txBox="1"/>
          <p:nvPr/>
        </p:nvSpPr>
        <p:spPr>
          <a:xfrm>
            <a:off x="1782668" y="1740500"/>
            <a:ext cx="29417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3498DB"/>
                </a:solidFill>
              </a:defRPr>
            </a:lvl1pPr>
          </a:lstStyle>
          <a:p>
            <a:r>
              <a:rPr lang="nl-NL" dirty="0">
                <a:solidFill>
                  <a:schemeClr val="bg1">
                    <a:lumMod val="85000"/>
                  </a:schemeClr>
                </a:solidFill>
              </a:rPr>
              <a:t>Constitutie &amp; contracten in systeem-DNA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EDF767-AD07-B48E-11ED-FCEF4E5B52CD}"/>
              </a:ext>
            </a:extLst>
          </p:cNvPr>
          <p:cNvSpPr txBox="1"/>
          <p:nvPr/>
        </p:nvSpPr>
        <p:spPr>
          <a:xfrm>
            <a:off x="6279234" y="2484108"/>
            <a:ext cx="23591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3498DB"/>
                </a:solidFill>
              </a:defRPr>
            </a:lvl1pPr>
          </a:lstStyle>
          <a:p>
            <a:r>
              <a:rPr lang="nl-NL" dirty="0">
                <a:solidFill>
                  <a:schemeClr val="bg1">
                    <a:lumMod val="85000"/>
                  </a:schemeClr>
                </a:solidFill>
              </a:rPr>
              <a:t>AI waar waardevol</a:t>
            </a:r>
            <a:br>
              <a:rPr lang="nl-NL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nl-NL" dirty="0">
                <a:solidFill>
                  <a:schemeClr val="bg1">
                    <a:lumMod val="85000"/>
                  </a:schemeClr>
                </a:solidFill>
              </a:rPr>
              <a:t>Deterministisch waar mogelijk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411627-710F-5631-1623-FCEEE6496AEF}"/>
              </a:ext>
            </a:extLst>
          </p:cNvPr>
          <p:cNvSpPr txBox="1"/>
          <p:nvPr/>
        </p:nvSpPr>
        <p:spPr>
          <a:xfrm>
            <a:off x="5218925" y="1963923"/>
            <a:ext cx="21260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3498DB"/>
                </a:solidFill>
              </a:defRPr>
            </a:lvl1pPr>
          </a:lstStyle>
          <a:p>
            <a:r>
              <a:rPr lang="nl-NL" dirty="0" err="1">
                <a:solidFill>
                  <a:schemeClr val="bg1">
                    <a:lumMod val="85000"/>
                  </a:schemeClr>
                </a:solidFill>
              </a:rPr>
              <a:t>Traceability</a:t>
            </a:r>
            <a:r>
              <a:rPr lang="nl-N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1">
                    <a:lumMod val="85000"/>
                  </a:schemeClr>
                </a:solidFill>
              </a:rPr>
              <a:t>by</a:t>
            </a:r>
            <a:r>
              <a:rPr lang="nl-NL" dirty="0">
                <a:solidFill>
                  <a:schemeClr val="bg1">
                    <a:lumMod val="85000"/>
                  </a:schemeClr>
                </a:solidFill>
              </a:rPr>
              <a:t> design</a:t>
            </a:r>
            <a:br>
              <a:rPr lang="nl-NL" dirty="0">
                <a:solidFill>
                  <a:schemeClr val="bg1">
                    <a:lumMod val="85000"/>
                  </a:schemeClr>
                </a:solidFill>
              </a:rPr>
            </a:br>
            <a:endParaRPr lang="nl-NL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35C9E7-3D49-C577-0970-09B89FC3CA2D}"/>
              </a:ext>
            </a:extLst>
          </p:cNvPr>
          <p:cNvSpPr txBox="1"/>
          <p:nvPr/>
        </p:nvSpPr>
        <p:spPr>
          <a:xfrm>
            <a:off x="3399918" y="4912136"/>
            <a:ext cx="36075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3498DB"/>
                </a:solidFill>
              </a:defRPr>
            </a:lvl1pPr>
          </a:lstStyle>
          <a:p>
            <a:r>
              <a:rPr lang="nl-NL" dirty="0" err="1">
                <a:solidFill>
                  <a:schemeClr val="bg1">
                    <a:lumMod val="85000"/>
                  </a:schemeClr>
                </a:solidFill>
              </a:rPr>
              <a:t>Practice</a:t>
            </a:r>
            <a:r>
              <a:rPr lang="nl-NL" dirty="0">
                <a:solidFill>
                  <a:schemeClr val="bg1">
                    <a:lumMod val="85000"/>
                  </a:schemeClr>
                </a:solidFill>
              </a:rPr>
              <a:t>-first: </a:t>
            </a:r>
            <a:br>
              <a:rPr lang="nl-NL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nl-NL" dirty="0">
                <a:solidFill>
                  <a:schemeClr val="bg1">
                    <a:lumMod val="85000"/>
                  </a:schemeClr>
                </a:solidFill>
              </a:rPr>
              <a:t>TLX: Eén jaar bewijs vóór commercie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3E462C-DD4F-877F-9A31-4C9C0712D08E}"/>
              </a:ext>
            </a:extLst>
          </p:cNvPr>
          <p:cNvSpPr txBox="1"/>
          <p:nvPr/>
        </p:nvSpPr>
        <p:spPr>
          <a:xfrm>
            <a:off x="6592203" y="3062298"/>
            <a:ext cx="25568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3498DB"/>
                </a:solidFill>
              </a:defRPr>
            </a:lvl1pPr>
          </a:lstStyle>
          <a:p>
            <a:r>
              <a:rPr lang="nl-NL" dirty="0">
                <a:solidFill>
                  <a:schemeClr val="bg1">
                    <a:lumMod val="85000"/>
                  </a:schemeClr>
                </a:solidFill>
              </a:rPr>
              <a:t>Data-centrisch</a:t>
            </a:r>
            <a:br>
              <a:rPr lang="nl-NL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nl-NL" dirty="0">
                <a:solidFill>
                  <a:schemeClr val="bg1">
                    <a:lumMod val="85000"/>
                  </a:schemeClr>
                </a:solidFill>
              </a:rPr>
              <a:t>On-</a:t>
            </a:r>
            <a:r>
              <a:rPr lang="nl-NL" dirty="0" err="1">
                <a:solidFill>
                  <a:schemeClr val="bg1">
                    <a:lumMod val="85000"/>
                  </a:schemeClr>
                </a:solidFill>
              </a:rPr>
              <a:t>premise</a:t>
            </a:r>
            <a:r>
              <a:rPr lang="nl-NL" dirty="0">
                <a:solidFill>
                  <a:schemeClr val="bg1">
                    <a:lumMod val="85000"/>
                  </a:schemeClr>
                </a:solidFill>
              </a:rPr>
              <a:t> &amp; open standaarden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4F65E2-83FA-CFAD-D8F8-AA66864E9B21}"/>
              </a:ext>
            </a:extLst>
          </p:cNvPr>
          <p:cNvSpPr txBox="1"/>
          <p:nvPr/>
        </p:nvSpPr>
        <p:spPr>
          <a:xfrm>
            <a:off x="4676111" y="5680911"/>
            <a:ext cx="39169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rPr lang="nl-NL" sz="1600" b="1" dirty="0"/>
              <a:t>Voorspelbare delivery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rPr lang="nl-NL" sz="1600" noProof="0" dirty="0"/>
              <a:t>Van intentie tot deployment herleidbaar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9D7EE2-BE63-B996-C9FB-5C65AC47F6DD}"/>
              </a:ext>
            </a:extLst>
          </p:cNvPr>
          <p:cNvSpPr txBox="1"/>
          <p:nvPr/>
        </p:nvSpPr>
        <p:spPr>
          <a:xfrm>
            <a:off x="1782668" y="653451"/>
            <a:ext cx="36605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FFFFFF"/>
                </a:solidFill>
              </a:defRPr>
            </a:lvl1pPr>
          </a:lstStyle>
          <a:p>
            <a:pPr algn="ctr"/>
            <a:r>
              <a:rPr lang="nl-NL" sz="1600" b="1" noProof="0" dirty="0"/>
              <a:t>Data-soevereiniteit</a:t>
            </a:r>
            <a:br>
              <a:rPr lang="nl-NL" sz="1600" b="1" noProof="0" dirty="0"/>
            </a:br>
            <a:r>
              <a:rPr lang="nl-NL" sz="1600" noProof="0" dirty="0"/>
              <a:t>RAG zonder data-lekkage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53371F-18C4-76C6-AD5B-ED228A9D9262}"/>
              </a:ext>
            </a:extLst>
          </p:cNvPr>
          <p:cNvSpPr txBox="1"/>
          <p:nvPr/>
        </p:nvSpPr>
        <p:spPr>
          <a:xfrm>
            <a:off x="8285303" y="4306610"/>
            <a:ext cx="311174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FFFFFF"/>
                </a:solidFill>
              </a:defRPr>
            </a:lvl1pPr>
          </a:lstStyle>
          <a:p>
            <a:pPr algn="ctr"/>
            <a:r>
              <a:rPr lang="nl-NL" sz="1600" b="1" noProof="0" dirty="0"/>
              <a:t>Beheerste AI-kosten</a:t>
            </a:r>
            <a:br>
              <a:rPr lang="nl-NL" sz="1600" b="1" noProof="0" dirty="0"/>
            </a:br>
            <a:r>
              <a:rPr lang="nl-NL" sz="1600" noProof="0" dirty="0"/>
              <a:t>Transparant kostenmodel, geen OPEX-verrassingen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5E9A6E-BB9F-4693-EE90-6094824F9D0D}"/>
              </a:ext>
            </a:extLst>
          </p:cNvPr>
          <p:cNvSpPr txBox="1"/>
          <p:nvPr/>
        </p:nvSpPr>
        <p:spPr>
          <a:xfrm>
            <a:off x="8815053" y="2058784"/>
            <a:ext cx="30002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FFFFFF"/>
                </a:solidFill>
              </a:defRPr>
            </a:lvl1pPr>
          </a:lstStyle>
          <a:p>
            <a:pPr algn="ctr"/>
            <a:r>
              <a:rPr lang="nl-NL" sz="1600" b="1" noProof="0" dirty="0"/>
              <a:t>Geen achterblijver</a:t>
            </a:r>
            <a:br>
              <a:rPr lang="nl-NL" sz="1600" b="1" noProof="0" dirty="0"/>
            </a:br>
            <a:r>
              <a:rPr lang="nl-NL" sz="1600" noProof="0" dirty="0" err="1"/>
              <a:t>Early</a:t>
            </a:r>
            <a:r>
              <a:rPr lang="nl-NL" sz="1600" noProof="0" dirty="0"/>
              <a:t> </a:t>
            </a:r>
            <a:r>
              <a:rPr lang="nl-NL" sz="1600" noProof="0" dirty="0" err="1"/>
              <a:t>mover</a:t>
            </a:r>
            <a:r>
              <a:rPr lang="nl-NL" sz="1600" noProof="0" dirty="0"/>
              <a:t> </a:t>
            </a:r>
            <a:r>
              <a:rPr lang="nl-NL" sz="1600" noProof="0" dirty="0" err="1"/>
              <a:t>governance</a:t>
            </a:r>
            <a:r>
              <a:rPr lang="nl-NL" sz="1600" noProof="0" dirty="0"/>
              <a:t>-native AI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D8925D-710C-9B42-8EE1-64449D4D160A}"/>
              </a:ext>
            </a:extLst>
          </p:cNvPr>
          <p:cNvSpPr txBox="1"/>
          <p:nvPr/>
        </p:nvSpPr>
        <p:spPr>
          <a:xfrm>
            <a:off x="5910425" y="4432413"/>
            <a:ext cx="27172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900" b="1">
                <a:solidFill>
                  <a:srgbClr val="3498DB"/>
                </a:solidFill>
              </a:defRPr>
            </a:lvl1pPr>
          </a:lstStyle>
          <a:p>
            <a:r>
              <a:rPr lang="nl-NL" sz="1200" noProof="0" dirty="0">
                <a:solidFill>
                  <a:schemeClr val="bg1">
                    <a:lumMod val="85000"/>
                  </a:schemeClr>
                </a:solidFill>
              </a:rPr>
              <a:t>Ontwikkelen private LLM </a:t>
            </a:r>
            <a:br>
              <a:rPr lang="nl-NL" sz="1200" noProof="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nl-NL" sz="1200" noProof="0" dirty="0">
                <a:solidFill>
                  <a:schemeClr val="bg1">
                    <a:lumMod val="85000"/>
                  </a:schemeClr>
                </a:solidFill>
              </a:rPr>
              <a:t>met partner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AC85ED-4D0F-914F-6562-3F54DE6FB6B1}"/>
              </a:ext>
            </a:extLst>
          </p:cNvPr>
          <p:cNvSpPr txBox="1"/>
          <p:nvPr/>
        </p:nvSpPr>
        <p:spPr>
          <a:xfrm>
            <a:off x="7344951" y="1079669"/>
            <a:ext cx="32510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FFFFFF"/>
                </a:solidFill>
              </a:defRPr>
            </a:lvl1pPr>
          </a:lstStyle>
          <a:p>
            <a:pPr algn="ctr"/>
            <a:r>
              <a:rPr lang="nl-NL" sz="1600" b="1" noProof="0" dirty="0" err="1"/>
              <a:t>Governance</a:t>
            </a:r>
            <a:r>
              <a:rPr lang="nl-NL" sz="1600" b="1" noProof="0" dirty="0"/>
              <a:t> als accelerator</a:t>
            </a:r>
          </a:p>
          <a:p>
            <a:pPr algn="ctr"/>
            <a:r>
              <a:rPr lang="nl-NL" sz="1600" dirty="0"/>
              <a:t>Meer controle dan zonder Agentic AI</a:t>
            </a:r>
            <a:endParaRPr lang="nl-NL" sz="1600" noProof="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B1B188-540C-CEB0-F8D5-5AB6883D8F22}"/>
              </a:ext>
            </a:extLst>
          </p:cNvPr>
          <p:cNvSpPr txBox="1"/>
          <p:nvPr/>
        </p:nvSpPr>
        <p:spPr>
          <a:xfrm>
            <a:off x="2501448" y="2203597"/>
            <a:ext cx="1793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nl-NL" sz="1400" b="1" noProof="0" dirty="0"/>
              <a:t>Boardroom concerns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884DBD-49C4-D63F-A33A-0562682755AE}"/>
              </a:ext>
            </a:extLst>
          </p:cNvPr>
          <p:cNvSpPr txBox="1"/>
          <p:nvPr/>
        </p:nvSpPr>
        <p:spPr>
          <a:xfrm>
            <a:off x="6399643" y="3733679"/>
            <a:ext cx="28732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3498DB"/>
                </a:solidFill>
              </a:defRPr>
            </a:lvl1pPr>
          </a:lstStyle>
          <a:p>
            <a:r>
              <a:rPr lang="nl-NL" dirty="0">
                <a:solidFill>
                  <a:schemeClr val="bg1">
                    <a:lumMod val="85000"/>
                  </a:schemeClr>
                </a:solidFill>
              </a:rPr>
              <a:t>Samenwerking met </a:t>
            </a:r>
          </a:p>
          <a:p>
            <a:r>
              <a:rPr lang="nl-NL" dirty="0">
                <a:solidFill>
                  <a:schemeClr val="bg1">
                    <a:lumMod val="85000"/>
                  </a:schemeClr>
                </a:solidFill>
              </a:rPr>
              <a:t>universiteit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17BFD9-C20E-855F-2BB1-5E5F1B59835C}"/>
              </a:ext>
            </a:extLst>
          </p:cNvPr>
          <p:cNvSpPr txBox="1"/>
          <p:nvPr/>
        </p:nvSpPr>
        <p:spPr>
          <a:xfrm>
            <a:off x="3706070" y="1402573"/>
            <a:ext cx="212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3498DB"/>
                </a:solidFill>
              </a:defRPr>
            </a:lvl1pPr>
          </a:lstStyle>
          <a:p>
            <a:r>
              <a:rPr lang="nl-NL" sz="1400" dirty="0">
                <a:solidFill>
                  <a:schemeClr val="bg1">
                    <a:lumMod val="85000"/>
                  </a:schemeClr>
                </a:solidFill>
              </a:rPr>
              <a:t>Hoe </a:t>
            </a:r>
            <a:r>
              <a:rPr lang="nl-NL" sz="1400" dirty="0">
                <a:solidFill>
                  <a:srgbClr val="F98B2B"/>
                </a:solidFill>
              </a:rPr>
              <a:t>Mandaryn</a:t>
            </a:r>
            <a:r>
              <a:rPr lang="nl-NL" sz="1400" dirty="0">
                <a:solidFill>
                  <a:schemeClr val="bg1">
                    <a:lumMod val="85000"/>
                  </a:schemeClr>
                </a:solidFill>
              </a:rPr>
              <a:t> dit oplost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38B6E5-C6E5-701C-D7A1-42CB3681E936}"/>
              </a:ext>
            </a:extLst>
          </p:cNvPr>
          <p:cNvSpPr txBox="1"/>
          <p:nvPr/>
        </p:nvSpPr>
        <p:spPr>
          <a:xfrm>
            <a:off x="4521613" y="210535"/>
            <a:ext cx="304200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FFFFFF"/>
                </a:solidFill>
              </a:defRPr>
            </a:lvl1pPr>
          </a:lstStyle>
          <a:p>
            <a:pPr algn="ctr"/>
            <a:r>
              <a:rPr lang="nl-NL" sz="2000" b="1" noProof="0" dirty="0" err="1"/>
              <a:t>Governance</a:t>
            </a:r>
            <a:r>
              <a:rPr lang="nl-NL" sz="2000" b="1" dirty="0"/>
              <a:t>-</a:t>
            </a:r>
            <a:r>
              <a:rPr lang="nl-NL" sz="2000" b="1" noProof="0" dirty="0"/>
              <a:t>Native</a:t>
            </a:r>
            <a:br>
              <a:rPr lang="nl-NL" sz="2000" b="1" noProof="0" dirty="0"/>
            </a:br>
            <a:r>
              <a:rPr lang="nl-NL" sz="2000" b="1" noProof="0" dirty="0"/>
              <a:t>AI Platform</a:t>
            </a: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2311321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2" name="Rectangle 191">
            <a:extLst>
              <a:ext uri="{FF2B5EF4-FFF2-40B4-BE49-F238E27FC236}">
                <a16:creationId xmlns:a16="http://schemas.microsoft.com/office/drawing/2014/main" id="{889AE703-9EC1-473D-8723-8E991E8852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577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43334689-E00B-81C3-24C5-D58F4489BD50}"/>
              </a:ext>
            </a:extLst>
          </p:cNvPr>
          <p:cNvSpPr txBox="1"/>
          <p:nvPr/>
        </p:nvSpPr>
        <p:spPr>
          <a:xfrm>
            <a:off x="320381" y="5590741"/>
            <a:ext cx="11462043" cy="68471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000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Governance-Native AI Platform </a:t>
            </a:r>
            <a:br>
              <a:rPr lang="en-US" sz="2000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000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– van </a:t>
            </a:r>
            <a:r>
              <a:rPr lang="en-US" sz="2000" i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experimenteren</a:t>
            </a:r>
            <a:r>
              <a:rPr lang="en-US" sz="2000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met AI </a:t>
            </a:r>
            <a:r>
              <a:rPr lang="en-US" sz="2000" i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naar</a:t>
            </a:r>
            <a:r>
              <a:rPr lang="en-US" sz="2000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000" i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volwassen</a:t>
            </a:r>
            <a:r>
              <a:rPr lang="en-US" sz="2000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AI Governance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CFC647A-4233-9457-8144-6B682E146E15}"/>
              </a:ext>
            </a:extLst>
          </p:cNvPr>
          <p:cNvSpPr txBox="1"/>
          <p:nvPr/>
        </p:nvSpPr>
        <p:spPr>
          <a:xfrm>
            <a:off x="320381" y="6320375"/>
            <a:ext cx="6965409" cy="4927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400" b="1" dirty="0"/>
              <a:t>Het fundament: </a:t>
            </a:r>
            <a:br>
              <a:rPr lang="en-US" sz="1400" b="1" dirty="0"/>
            </a:br>
            <a:r>
              <a:rPr lang="en-US" sz="1400" i="1" dirty="0"/>
              <a:t>“There is no silver bullet. Essential complexity cannot be eliminated, only managed.”</a:t>
            </a:r>
          </a:p>
        </p:txBody>
      </p:sp>
      <p:pic>
        <p:nvPicPr>
          <p:cNvPr id="233" name="Picture 232">
            <a:extLst>
              <a:ext uri="{FF2B5EF4-FFF2-40B4-BE49-F238E27FC236}">
                <a16:creationId xmlns:a16="http://schemas.microsoft.com/office/drawing/2014/main" id="{1ECE93F6-B248-78F6-C38A-9FCE291F7B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8368" y="-27684"/>
            <a:ext cx="1220457" cy="1220457"/>
          </a:xfrm>
          <a:prstGeom prst="rect">
            <a:avLst/>
          </a:prstGeom>
        </p:spPr>
      </p:pic>
      <p:pic>
        <p:nvPicPr>
          <p:cNvPr id="308" name="Picture 307">
            <a:extLst>
              <a:ext uri="{FF2B5EF4-FFF2-40B4-BE49-F238E27FC236}">
                <a16:creationId xmlns:a16="http://schemas.microsoft.com/office/drawing/2014/main" id="{3A548415-6C11-D703-5D69-F11A71127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686" y="325886"/>
            <a:ext cx="11293431" cy="5341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914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</Words>
  <Application>Microsoft Office PowerPoint</Application>
  <PresentationFormat>Custom</PresentationFormat>
  <Paragraphs>26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Hans Blok</cp:lastModifiedBy>
  <cp:revision>11</cp:revision>
  <dcterms:created xsi:type="dcterms:W3CDTF">2013-01-27T09:14:16Z</dcterms:created>
  <dcterms:modified xsi:type="dcterms:W3CDTF">2026-02-17T18:49:57Z</dcterms:modified>
  <cp:category/>
</cp:coreProperties>
</file>